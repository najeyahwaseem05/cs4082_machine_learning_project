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K Grotesk Bold" charset="1" panose="00000800000000000000"/>
      <p:regular r:id="rId14"/>
    </p:embeddedFont>
    <p:embeddedFont>
      <p:font typeface="HK Grotesk" charset="1" panose="00000500000000000000"/>
      <p:regular r:id="rId15"/>
    </p:embeddedFont>
    <p:embeddedFont>
      <p:font typeface="Canva Sans" charset="1" panose="020B0503030501040103"/>
      <p:regular r:id="rId16"/>
    </p:embeddedFont>
    <p:embeddedFont>
      <p:font typeface="HK Grotesk Light" charset="1" panose="000004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7734" y="1028700"/>
            <a:ext cx="11591566" cy="8229600"/>
            <a:chOff x="0" y="0"/>
            <a:chExt cx="3052923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2923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52923">
                  <a:moveTo>
                    <a:pt x="0" y="0"/>
                  </a:moveTo>
                  <a:lnTo>
                    <a:pt x="3052923" y="0"/>
                  </a:lnTo>
                  <a:lnTo>
                    <a:pt x="305292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292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639034" cy="8229600"/>
          </a:xfrm>
          <a:custGeom>
            <a:avLst/>
            <a:gdLst/>
            <a:ahLst/>
            <a:cxnLst/>
            <a:rect r="r" b="b" t="t" l="l"/>
            <a:pathLst>
              <a:path h="8229600" w="4639034">
                <a:moveTo>
                  <a:pt x="0" y="0"/>
                </a:moveTo>
                <a:lnTo>
                  <a:pt x="4639034" y="0"/>
                </a:lnTo>
                <a:lnTo>
                  <a:pt x="46390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928" t="0" r="-829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9558" y="1619261"/>
            <a:ext cx="515776" cy="626218"/>
          </a:xfrm>
          <a:custGeom>
            <a:avLst/>
            <a:gdLst/>
            <a:ahLst/>
            <a:cxnLst/>
            <a:rect r="r" b="b" t="t" l="l"/>
            <a:pathLst>
              <a:path h="626218" w="515776">
                <a:moveTo>
                  <a:pt x="0" y="0"/>
                </a:moveTo>
                <a:lnTo>
                  <a:pt x="515776" y="0"/>
                </a:lnTo>
                <a:lnTo>
                  <a:pt x="515776" y="626217"/>
                </a:lnTo>
                <a:lnTo>
                  <a:pt x="0" y="626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6030228" y="5641639"/>
            <a:ext cx="1086657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802181" y="1466861"/>
            <a:ext cx="9322672" cy="399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Predicting 30-Day Hospital Readmission from Noisy Diabetes Records under Adversarial Conditions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0228" y="5819775"/>
            <a:ext cx="10866578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Course: CS4082 - Machine Learning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Instructor: Dr. Naila Marir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Team: Sarah Alsebae, Sara Imran, Najeyah Waseem, Nafeesa Mahek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Project Website: https://nafeesa-mahek.github.io/MLprojecct--Website--portfolio/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80492" y="9458975"/>
            <a:ext cx="18256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70967" y="9458975"/>
            <a:ext cx="18256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942613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290" y="540057"/>
            <a:ext cx="8837586" cy="9206887"/>
            <a:chOff x="0" y="0"/>
            <a:chExt cx="2327595" cy="2424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7595" cy="2424859"/>
            </a:xfrm>
            <a:custGeom>
              <a:avLst/>
              <a:gdLst/>
              <a:ahLst/>
              <a:cxnLst/>
              <a:rect r="r" b="b" t="t" l="l"/>
              <a:pathLst>
                <a:path h="2424859" w="2327595">
                  <a:moveTo>
                    <a:pt x="0" y="0"/>
                  </a:moveTo>
                  <a:lnTo>
                    <a:pt x="2327595" y="0"/>
                  </a:lnTo>
                  <a:lnTo>
                    <a:pt x="2327595" y="2424859"/>
                  </a:lnTo>
                  <a:lnTo>
                    <a:pt x="0" y="2424859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27595" cy="2472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01412" y="742723"/>
            <a:ext cx="515776" cy="626218"/>
          </a:xfrm>
          <a:custGeom>
            <a:avLst/>
            <a:gdLst/>
            <a:ahLst/>
            <a:cxnLst/>
            <a:rect r="r" b="b" t="t" l="l"/>
            <a:pathLst>
              <a:path h="626218" w="515776">
                <a:moveTo>
                  <a:pt x="0" y="0"/>
                </a:moveTo>
                <a:lnTo>
                  <a:pt x="515776" y="0"/>
                </a:lnTo>
                <a:lnTo>
                  <a:pt x="515776" y="626218"/>
                </a:lnTo>
                <a:lnTo>
                  <a:pt x="0" y="62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55362" y="742723"/>
            <a:ext cx="6246050" cy="3427294"/>
            <a:chOff x="0" y="0"/>
            <a:chExt cx="1645050" cy="9026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050" cy="902662"/>
            </a:xfrm>
            <a:custGeom>
              <a:avLst/>
              <a:gdLst/>
              <a:ahLst/>
              <a:cxnLst/>
              <a:rect r="r" b="b" t="t" l="l"/>
              <a:pathLst>
                <a:path h="902662" w="1645050">
                  <a:moveTo>
                    <a:pt x="0" y="0"/>
                  </a:moveTo>
                  <a:lnTo>
                    <a:pt x="1645050" y="0"/>
                  </a:lnTo>
                  <a:lnTo>
                    <a:pt x="1645050" y="902662"/>
                  </a:lnTo>
                  <a:lnTo>
                    <a:pt x="0" y="902662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5050" cy="95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354360" y="1174195"/>
            <a:ext cx="851971" cy="851971"/>
          </a:xfrm>
          <a:custGeom>
            <a:avLst/>
            <a:gdLst/>
            <a:ahLst/>
            <a:cxnLst/>
            <a:rect r="r" b="b" t="t" l="l"/>
            <a:pathLst>
              <a:path h="851971" w="851971">
                <a:moveTo>
                  <a:pt x="0" y="0"/>
                </a:moveTo>
                <a:lnTo>
                  <a:pt x="851970" y="0"/>
                </a:lnTo>
                <a:lnTo>
                  <a:pt x="851970" y="851971"/>
                </a:lnTo>
                <a:lnTo>
                  <a:pt x="0" y="851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4182" y="1168916"/>
            <a:ext cx="8403801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Scope &amp;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4531" y="4840594"/>
            <a:ext cx="8183104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Clinical Importance: 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Hospital readmission reflects both patient health status and the quality of care provided after discharge. 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Challenges: 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Predicting readmission in diabetes care is highly challenging because hospital records are often noisy, incomplete, and highly heterogeneous.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4420" y="4840594"/>
            <a:ext cx="7184880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Adve</a:t>
            </a:r>
            <a:r>
              <a:rPr lang="en-US" b="true" sz="3000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rsarial Conditions:</a:t>
            </a:r>
            <a:r>
              <a:rPr lang="en-US" sz="30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 Retrospective EHR data makes predictive models extremely sensitive to missing values and severe class imbalance. 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Gap: </a:t>
            </a:r>
            <a:r>
              <a:rPr lang="en-US" sz="30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Existing models struggle with generalizability across different healthcare settings when patient history data is limited or manipulated.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19242" y="1226066"/>
            <a:ext cx="335815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Dataset Used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22226" y="2226191"/>
            <a:ext cx="561018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iabetes 130-US Hospitals / UCI diabetes readmission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     → 101,766 inpatient encounters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     → 50 columns.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68139" y="9458975"/>
            <a:ext cx="1882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942613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7745848" cy="4312855"/>
          </a:xfrm>
          <a:custGeom>
            <a:avLst/>
            <a:gdLst/>
            <a:ahLst/>
            <a:cxnLst/>
            <a:rect r="r" b="b" t="t" l="l"/>
            <a:pathLst>
              <a:path h="4312855" w="7745848">
                <a:moveTo>
                  <a:pt x="0" y="0"/>
                </a:moveTo>
                <a:lnTo>
                  <a:pt x="7745848" y="0"/>
                </a:lnTo>
                <a:lnTo>
                  <a:pt x="7745848" y="4312855"/>
                </a:lnTo>
                <a:lnTo>
                  <a:pt x="0" y="431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41" r="0" b="-99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41950" y="1716206"/>
            <a:ext cx="6246050" cy="3427294"/>
            <a:chOff x="0" y="0"/>
            <a:chExt cx="1645050" cy="9026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050" cy="902662"/>
            </a:xfrm>
            <a:custGeom>
              <a:avLst/>
              <a:gdLst/>
              <a:ahLst/>
              <a:cxnLst/>
              <a:rect r="r" b="b" t="t" l="l"/>
              <a:pathLst>
                <a:path h="902662" w="1645050">
                  <a:moveTo>
                    <a:pt x="0" y="0"/>
                  </a:moveTo>
                  <a:lnTo>
                    <a:pt x="1645050" y="0"/>
                  </a:lnTo>
                  <a:lnTo>
                    <a:pt x="1645050" y="902662"/>
                  </a:lnTo>
                  <a:lnTo>
                    <a:pt x="0" y="902662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45050" cy="95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944355" y="4327142"/>
            <a:ext cx="535392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841077" y="5143500"/>
            <a:ext cx="0" cy="4423927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505075" y="5143500"/>
            <a:ext cx="0" cy="4423927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778752" y="3889537"/>
            <a:ext cx="877342" cy="846635"/>
          </a:xfrm>
          <a:custGeom>
            <a:avLst/>
            <a:gdLst/>
            <a:ahLst/>
            <a:cxnLst/>
            <a:rect r="r" b="b" t="t" l="l"/>
            <a:pathLst>
              <a:path h="846635" w="877342">
                <a:moveTo>
                  <a:pt x="0" y="0"/>
                </a:moveTo>
                <a:lnTo>
                  <a:pt x="877342" y="0"/>
                </a:lnTo>
                <a:lnTo>
                  <a:pt x="877342" y="846635"/>
                </a:lnTo>
                <a:lnTo>
                  <a:pt x="0" y="846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39975" y="1960658"/>
            <a:ext cx="5249999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Objective:</a:t>
            </a:r>
            <a:r>
              <a:rPr lang="en-US" sz="29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Develop a robust framework for early risk identification so that clinicians can intervene sooner and reduce avoidable readmissions.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805" y="5474905"/>
            <a:ext cx="4563347" cy="389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Strategic Preprocessing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We propose a structured preprocessing pipeline tailored to handle noisy records and extreme class imbalance.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4002" y="5484430"/>
            <a:ext cx="4788712" cy="388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Adversarial 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Defense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We designed our methodology to specifically counter the suppression of the minority class (readmitted patients).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48000" y="5484430"/>
            <a:ext cx="5217350" cy="388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Systematic 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Evaluation</a:t>
            </a:r>
            <a:r>
              <a:rPr lang="en-US" sz="3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Applying careful, staged model evaluation to improve practical usefulness and reliability in real-world healthcare applications.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9555" y="1095375"/>
            <a:ext cx="5649197" cy="227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b="true" sz="79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057" y="411600"/>
            <a:ext cx="14733886" cy="123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7199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Architecture &amp; ML Pipeline Lifecycle</a:t>
            </a:r>
          </a:p>
        </p:txBody>
      </p:sp>
      <p:sp>
        <p:nvSpPr>
          <p:cNvPr name="AutoShape 3" id="3"/>
          <p:cNvSpPr/>
          <p:nvPr/>
        </p:nvSpPr>
        <p:spPr>
          <a:xfrm>
            <a:off x="1283079" y="-1348740"/>
            <a:ext cx="0" cy="10607040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09650" y="7754968"/>
            <a:ext cx="0" cy="10607040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530118" y="-6683080"/>
            <a:ext cx="0" cy="10607040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977668" y="-5749786"/>
            <a:ext cx="0" cy="10607040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7253893" y="3420915"/>
            <a:ext cx="0" cy="10607040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228653" y="2057950"/>
            <a:ext cx="4324350" cy="3228975"/>
            <a:chOff x="0" y="0"/>
            <a:chExt cx="1066177" cy="7961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177" cy="796110"/>
            </a:xfrm>
            <a:custGeom>
              <a:avLst/>
              <a:gdLst/>
              <a:ahLst/>
              <a:cxnLst/>
              <a:rect r="r" b="b" t="t" l="l"/>
              <a:pathLst>
                <a:path h="796110" w="1066177">
                  <a:moveTo>
                    <a:pt x="0" y="0"/>
                  </a:moveTo>
                  <a:lnTo>
                    <a:pt x="1066177" y="0"/>
                  </a:lnTo>
                  <a:lnTo>
                    <a:pt x="1066177" y="796110"/>
                  </a:lnTo>
                  <a:lnTo>
                    <a:pt x="0" y="796110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66177" cy="843735"/>
            </a:xfrm>
            <a:prstGeom prst="rect">
              <a:avLst/>
            </a:prstGeom>
          </p:spPr>
          <p:txBody>
            <a:bodyPr anchor="ctr" rtlCol="false" tIns="54266" lIns="54266" bIns="54266" rIns="54266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20158" y="1858360"/>
            <a:ext cx="3143439" cy="50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374804" y="2342112"/>
            <a:ext cx="408312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Preparation:</a:t>
            </a:r>
            <a:r>
              <a:rPr lang="en-US" sz="24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Selecting first encounters and strictly splitting the dataset into training, validation, and held-out test sets to prevent data leakage.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10478" y="2057950"/>
            <a:ext cx="4324350" cy="3228975"/>
            <a:chOff x="0" y="0"/>
            <a:chExt cx="1066177" cy="7961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177" cy="796110"/>
            </a:xfrm>
            <a:custGeom>
              <a:avLst/>
              <a:gdLst/>
              <a:ahLst/>
              <a:cxnLst/>
              <a:rect r="r" b="b" t="t" l="l"/>
              <a:pathLst>
                <a:path h="796110" w="1066177">
                  <a:moveTo>
                    <a:pt x="0" y="0"/>
                  </a:moveTo>
                  <a:lnTo>
                    <a:pt x="1066177" y="0"/>
                  </a:lnTo>
                  <a:lnTo>
                    <a:pt x="1066177" y="796110"/>
                  </a:lnTo>
                  <a:lnTo>
                    <a:pt x="0" y="796110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6177" cy="843735"/>
            </a:xfrm>
            <a:prstGeom prst="rect">
              <a:avLst/>
            </a:prstGeom>
          </p:spPr>
          <p:txBody>
            <a:bodyPr anchor="ctr" rtlCol="false" tIns="54266" lIns="54266" bIns="54266" rIns="54266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15178" y="2169705"/>
            <a:ext cx="3143439" cy="50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331091" y="2342112"/>
            <a:ext cx="408312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Imputation &amp; Scaling: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Imputing missing values using only training-derived statistics, encoding categorical features, and scaling numerical variables.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228653" y="6143310"/>
            <a:ext cx="4324350" cy="3228975"/>
            <a:chOff x="0" y="0"/>
            <a:chExt cx="1066177" cy="796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177" cy="796110"/>
            </a:xfrm>
            <a:custGeom>
              <a:avLst/>
              <a:gdLst/>
              <a:ahLst/>
              <a:cxnLst/>
              <a:rect r="r" b="b" t="t" l="l"/>
              <a:pathLst>
                <a:path h="796110" w="1066177">
                  <a:moveTo>
                    <a:pt x="0" y="0"/>
                  </a:moveTo>
                  <a:lnTo>
                    <a:pt x="1066177" y="0"/>
                  </a:lnTo>
                  <a:lnTo>
                    <a:pt x="1066177" y="796110"/>
                  </a:lnTo>
                  <a:lnTo>
                    <a:pt x="0" y="796110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66177" cy="843735"/>
            </a:xfrm>
            <a:prstGeom prst="rect">
              <a:avLst/>
            </a:prstGeom>
          </p:spPr>
          <p:txBody>
            <a:bodyPr anchor="ctr" rtlCol="false" tIns="54266" lIns="54266" bIns="54266" rIns="54266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720802" y="5943720"/>
            <a:ext cx="3143439" cy="50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374804" y="6219226"/>
            <a:ext cx="4083124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Handling Imbalance: 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Applying SMOTE (Synthetic Minority Over-sampling Technique) exclusively to the training set to reduce overfitting and improve generalizability.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210478" y="6143310"/>
            <a:ext cx="4324350" cy="3228975"/>
            <a:chOff x="0" y="0"/>
            <a:chExt cx="1066177" cy="796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6177" cy="796110"/>
            </a:xfrm>
            <a:custGeom>
              <a:avLst/>
              <a:gdLst/>
              <a:ahLst/>
              <a:cxnLst/>
              <a:rect r="r" b="b" t="t" l="l"/>
              <a:pathLst>
                <a:path h="796110" w="1066177">
                  <a:moveTo>
                    <a:pt x="0" y="0"/>
                  </a:moveTo>
                  <a:lnTo>
                    <a:pt x="1066177" y="0"/>
                  </a:lnTo>
                  <a:lnTo>
                    <a:pt x="1066177" y="796110"/>
                  </a:lnTo>
                  <a:lnTo>
                    <a:pt x="0" y="796110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6177" cy="843735"/>
            </a:xfrm>
            <a:prstGeom prst="rect">
              <a:avLst/>
            </a:prstGeom>
          </p:spPr>
          <p:txBody>
            <a:bodyPr anchor="ctr" rtlCol="false" tIns="54266" lIns="54266" bIns="54266" rIns="54266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501983" y="5943720"/>
            <a:ext cx="3143439" cy="50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331091" y="6427472"/>
            <a:ext cx="408312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Training:</a:t>
            </a:r>
            <a:r>
              <a:rPr lang="en-US" sz="24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Training diverse algorithms, including an XGBoost classifier, a Baseline Random Forest, and a specialized "Adversarial-Condition" Random Forest.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08659" y="2379152"/>
            <a:ext cx="914467" cy="232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08582" y="6256265"/>
            <a:ext cx="1079675" cy="232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64953" y="2379152"/>
            <a:ext cx="966933" cy="232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53172" y="6256265"/>
            <a:ext cx="1025441" cy="232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234787">
            <a:off x="13971898" y="876537"/>
            <a:ext cx="3735912" cy="2513250"/>
          </a:xfrm>
          <a:custGeom>
            <a:avLst/>
            <a:gdLst/>
            <a:ahLst/>
            <a:cxnLst/>
            <a:rect r="r" b="b" t="t" l="l"/>
            <a:pathLst>
              <a:path h="2513250" w="3735912">
                <a:moveTo>
                  <a:pt x="0" y="0"/>
                </a:moveTo>
                <a:lnTo>
                  <a:pt x="3735913" y="0"/>
                </a:lnTo>
                <a:lnTo>
                  <a:pt x="3735913" y="2513250"/>
                </a:lnTo>
                <a:lnTo>
                  <a:pt x="0" y="251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6176" y="653615"/>
            <a:ext cx="9475648" cy="279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</a:t>
            </a:r>
            <a:r>
              <a:rPr lang="en-US" b="true" sz="8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odel Validation &amp; Threshold Tuning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2089827">
            <a:off x="531210" y="876537"/>
            <a:ext cx="3735912" cy="2513250"/>
          </a:xfrm>
          <a:custGeom>
            <a:avLst/>
            <a:gdLst/>
            <a:ahLst/>
            <a:cxnLst/>
            <a:rect r="r" b="b" t="t" l="l"/>
            <a:pathLst>
              <a:path h="2513250" w="3735912">
                <a:moveTo>
                  <a:pt x="0" y="2513250"/>
                </a:moveTo>
                <a:lnTo>
                  <a:pt x="3735913" y="2513250"/>
                </a:lnTo>
                <a:lnTo>
                  <a:pt x="3735913" y="0"/>
                </a:lnTo>
                <a:lnTo>
                  <a:pt x="0" y="0"/>
                </a:lnTo>
                <a:lnTo>
                  <a:pt x="0" y="25132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3841" y="4550826"/>
            <a:ext cx="7263852" cy="2363703"/>
            <a:chOff x="0" y="0"/>
            <a:chExt cx="1913113" cy="6225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3113" cy="622539"/>
            </a:xfrm>
            <a:custGeom>
              <a:avLst/>
              <a:gdLst/>
              <a:ahLst/>
              <a:cxnLst/>
              <a:rect r="r" b="b" t="t" l="l"/>
              <a:pathLst>
                <a:path h="622539" w="1913113">
                  <a:moveTo>
                    <a:pt x="0" y="0"/>
                  </a:moveTo>
                  <a:lnTo>
                    <a:pt x="1913113" y="0"/>
                  </a:lnTo>
                  <a:lnTo>
                    <a:pt x="1913113" y="622539"/>
                  </a:lnTo>
                  <a:lnTo>
                    <a:pt x="0" y="622539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13113" cy="67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13495" y="5440740"/>
            <a:ext cx="277628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83841" y="7127746"/>
            <a:ext cx="7263852" cy="2344817"/>
            <a:chOff x="0" y="0"/>
            <a:chExt cx="1913113" cy="6175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3113" cy="617565"/>
            </a:xfrm>
            <a:custGeom>
              <a:avLst/>
              <a:gdLst/>
              <a:ahLst/>
              <a:cxnLst/>
              <a:rect r="r" b="b" t="t" l="l"/>
              <a:pathLst>
                <a:path h="617565" w="1913113">
                  <a:moveTo>
                    <a:pt x="0" y="0"/>
                  </a:moveTo>
                  <a:lnTo>
                    <a:pt x="1913113" y="0"/>
                  </a:lnTo>
                  <a:lnTo>
                    <a:pt x="1913113" y="617565"/>
                  </a:lnTo>
                  <a:lnTo>
                    <a:pt x="0" y="617565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13113" cy="665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12565" y="4550826"/>
            <a:ext cx="7191595" cy="2363703"/>
            <a:chOff x="0" y="0"/>
            <a:chExt cx="1894083" cy="6225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4082" cy="622539"/>
            </a:xfrm>
            <a:custGeom>
              <a:avLst/>
              <a:gdLst/>
              <a:ahLst/>
              <a:cxnLst/>
              <a:rect r="r" b="b" t="t" l="l"/>
              <a:pathLst>
                <a:path h="622539" w="1894082">
                  <a:moveTo>
                    <a:pt x="0" y="0"/>
                  </a:moveTo>
                  <a:lnTo>
                    <a:pt x="1894082" y="0"/>
                  </a:lnTo>
                  <a:lnTo>
                    <a:pt x="1894082" y="622539"/>
                  </a:lnTo>
                  <a:lnTo>
                    <a:pt x="0" y="622539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94083" cy="67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12565" y="7127746"/>
            <a:ext cx="7191595" cy="2344817"/>
            <a:chOff x="0" y="0"/>
            <a:chExt cx="1894083" cy="6175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4082" cy="617565"/>
            </a:xfrm>
            <a:custGeom>
              <a:avLst/>
              <a:gdLst/>
              <a:ahLst/>
              <a:cxnLst/>
              <a:rect r="r" b="b" t="t" l="l"/>
              <a:pathLst>
                <a:path h="617565" w="1894082">
                  <a:moveTo>
                    <a:pt x="0" y="0"/>
                  </a:moveTo>
                  <a:lnTo>
                    <a:pt x="1894082" y="0"/>
                  </a:lnTo>
                  <a:lnTo>
                    <a:pt x="1894082" y="617565"/>
                  </a:lnTo>
                  <a:lnTo>
                    <a:pt x="0" y="617565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94083" cy="665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38398" y="4713665"/>
            <a:ext cx="6754737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Validati</a:t>
            </a: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 Strategy: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We evaluated model probabilities on our validation set to find the optimal decision boundary before touching the test set.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0655" y="7223830"/>
            <a:ext cx="6754737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Precision-Recall Tuni</a:t>
            </a: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ng: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Standard 0.50 thresholds fail under severe class imbalance; we utilized Precision-Recall curves to isolate the optimal threshold.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30994" y="4656352"/>
            <a:ext cx="6754737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XGBoost Optimization: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The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best F1-score on the validation set was achieved by adjusting the decision threshold to 0.6075 for our tuned XGBoost model.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71434" y="7223830"/>
            <a:ext cx="7073855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Comparative Baselines: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The</a:t>
            </a: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tuned model was evaluated against a standard Random Forest and an adversarial model penalized specifically for minority-class conditions.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039" y="7302101"/>
            <a:ext cx="8763921" cy="208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2995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Tuned XGBoost significantly outperformed both the Baseline Model (F1: 0.002) and the Adversarial Condition Model (F1: 0.012), proving its superior ability to flag actual readmissions.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48960" y="6397495"/>
            <a:ext cx="1990080" cy="78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9"/>
              </a:lnSpc>
            </a:pPr>
            <a:r>
              <a:rPr lang="en-US" b="true" sz="4521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</a:t>
            </a:r>
          </a:p>
        </p:txBody>
      </p:sp>
      <p:sp>
        <p:nvSpPr>
          <p:cNvPr name="AutoShape 4" id="4"/>
          <p:cNvSpPr/>
          <p:nvPr/>
        </p:nvSpPr>
        <p:spPr>
          <a:xfrm>
            <a:off x="3617980" y="6492745"/>
            <a:ext cx="0" cy="3350579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550867" y="3874207"/>
            <a:ext cx="5658109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Threshold-Tuned XGBoost achieved the best overall balance in detecting the minority class on the unseen test set.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09183" y="4720082"/>
            <a:ext cx="3670166" cy="103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675" indent="-323338" lvl="1">
              <a:lnSpc>
                <a:spcPts val="4193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Accuracy: 77.3%</a:t>
            </a:r>
          </a:p>
          <a:p>
            <a:pPr algn="l" marL="646675" indent="-323338" lvl="1">
              <a:lnSpc>
                <a:spcPts val="4193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AUC-ROC: 0.632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2468" y="2914626"/>
            <a:ext cx="4154905" cy="78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9"/>
              </a:lnSpc>
            </a:pPr>
            <a:r>
              <a:rPr lang="en-US" b="true" sz="4521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Winning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0747" y="2967375"/>
            <a:ext cx="5447088" cy="15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9"/>
              </a:lnSpc>
            </a:pPr>
            <a:r>
              <a:rPr lang="en-US" b="true" sz="4521">
                <a:solidFill>
                  <a:srgbClr val="94261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 Set Performance Metrics</a:t>
            </a:r>
          </a:p>
        </p:txBody>
      </p:sp>
      <p:sp>
        <p:nvSpPr>
          <p:cNvPr name="AutoShape 9" id="9"/>
          <p:cNvSpPr/>
          <p:nvPr/>
        </p:nvSpPr>
        <p:spPr>
          <a:xfrm>
            <a:off x="9144000" y="3262441"/>
            <a:ext cx="0" cy="2905551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275020" y="563174"/>
            <a:ext cx="10403806" cy="227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b="true" sz="79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 EVALUATION &amp; RESULTS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4475439">
            <a:off x="-2701925" y="6770118"/>
            <a:ext cx="6432549" cy="4039105"/>
          </a:xfrm>
          <a:custGeom>
            <a:avLst/>
            <a:gdLst/>
            <a:ahLst/>
            <a:cxnLst/>
            <a:rect r="r" b="b" t="t" l="l"/>
            <a:pathLst>
              <a:path h="4039105" w="6432549">
                <a:moveTo>
                  <a:pt x="0" y="0"/>
                </a:moveTo>
                <a:lnTo>
                  <a:pt x="6432550" y="0"/>
                </a:lnTo>
                <a:lnTo>
                  <a:pt x="6432550" y="4039104"/>
                </a:lnTo>
                <a:lnTo>
                  <a:pt x="0" y="403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702781">
            <a:off x="-1171609" y="-1352566"/>
            <a:ext cx="4181200" cy="2625445"/>
          </a:xfrm>
          <a:custGeom>
            <a:avLst/>
            <a:gdLst/>
            <a:ahLst/>
            <a:cxnLst/>
            <a:rect r="r" b="b" t="t" l="l"/>
            <a:pathLst>
              <a:path h="2625445" w="4181200">
                <a:moveTo>
                  <a:pt x="0" y="0"/>
                </a:moveTo>
                <a:lnTo>
                  <a:pt x="4181200" y="0"/>
                </a:lnTo>
                <a:lnTo>
                  <a:pt x="4181200" y="2625445"/>
                </a:lnTo>
                <a:lnTo>
                  <a:pt x="0" y="26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979753">
            <a:off x="15573496" y="135693"/>
            <a:ext cx="5500318" cy="3453741"/>
          </a:xfrm>
          <a:custGeom>
            <a:avLst/>
            <a:gdLst/>
            <a:ahLst/>
            <a:cxnLst/>
            <a:rect r="r" b="b" t="t" l="l"/>
            <a:pathLst>
              <a:path h="3453741" w="5500318">
                <a:moveTo>
                  <a:pt x="0" y="0"/>
                </a:moveTo>
                <a:lnTo>
                  <a:pt x="5500318" y="0"/>
                </a:lnTo>
                <a:lnTo>
                  <a:pt x="5500318" y="3453742"/>
                </a:lnTo>
                <a:lnTo>
                  <a:pt x="0" y="3453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14668961" y="6358493"/>
            <a:ext cx="0" cy="3350579"/>
          </a:xfrm>
          <a:prstGeom prst="line">
            <a:avLst/>
          </a:prstGeom>
          <a:ln cap="flat" w="38100">
            <a:solidFill>
              <a:srgbClr val="94261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467605" y="4720082"/>
            <a:ext cx="3923480" cy="103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675" indent="-323338" lvl="1">
              <a:lnSpc>
                <a:spcPts val="4193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Recall: 0.364</a:t>
            </a:r>
          </a:p>
          <a:p>
            <a:pPr algn="l" marL="646675" indent="-323338" lvl="1">
              <a:lnSpc>
                <a:spcPts val="4193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F1-Score: 0.220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290" y="540057"/>
            <a:ext cx="9166321" cy="9206887"/>
            <a:chOff x="0" y="0"/>
            <a:chExt cx="2414175" cy="2424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4175" cy="2424859"/>
            </a:xfrm>
            <a:custGeom>
              <a:avLst/>
              <a:gdLst/>
              <a:ahLst/>
              <a:cxnLst/>
              <a:rect r="r" b="b" t="t" l="l"/>
              <a:pathLst>
                <a:path h="2424859" w="2414175">
                  <a:moveTo>
                    <a:pt x="0" y="0"/>
                  </a:moveTo>
                  <a:lnTo>
                    <a:pt x="2414175" y="0"/>
                  </a:lnTo>
                  <a:lnTo>
                    <a:pt x="2414175" y="2424859"/>
                  </a:lnTo>
                  <a:lnTo>
                    <a:pt x="0" y="2424859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4175" cy="2472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01412" y="742723"/>
            <a:ext cx="515776" cy="626218"/>
          </a:xfrm>
          <a:custGeom>
            <a:avLst/>
            <a:gdLst/>
            <a:ahLst/>
            <a:cxnLst/>
            <a:rect r="r" b="b" t="t" l="l"/>
            <a:pathLst>
              <a:path h="626218" w="515776">
                <a:moveTo>
                  <a:pt x="0" y="0"/>
                </a:moveTo>
                <a:lnTo>
                  <a:pt x="515776" y="0"/>
                </a:lnTo>
                <a:lnTo>
                  <a:pt x="515776" y="626218"/>
                </a:lnTo>
                <a:lnTo>
                  <a:pt x="0" y="62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6825" y="857250"/>
            <a:ext cx="6891570" cy="474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99"/>
              </a:lnSpc>
            </a:pPr>
            <a:r>
              <a:rPr lang="en-US" b="true" sz="9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Honest Limitations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7178" y="581025"/>
            <a:ext cx="7023156" cy="905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Current Limitations:</a:t>
            </a: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The model still struggles with minority-class detection under highly adversarial conditions, and threshold tuning improved the F1-score at the cost of lower precision.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Trade-offs:</a:t>
            </a: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While feature selection reduced model complexity and training time, some potentially predictive clinical information may have been lost.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 Work:</a:t>
            </a:r>
            <a:r>
              <a:rPr lang="en-US" sz="30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Further improvements require stronger adversarial augmentation, probability calibration, and integration of clinical text data.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91863" y="6733457"/>
            <a:ext cx="7877175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 Recommendation: </a:t>
            </a: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threshold-tuned XGBoost model stands as the strongest deployment candidate for identifying high-risk diabetic patients.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6200416"/>
            <a:ext cx="8040338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7734" y="1028700"/>
            <a:ext cx="11591566" cy="8229600"/>
            <a:chOff x="0" y="0"/>
            <a:chExt cx="3052923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2923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52923">
                  <a:moveTo>
                    <a:pt x="0" y="0"/>
                  </a:moveTo>
                  <a:lnTo>
                    <a:pt x="3052923" y="0"/>
                  </a:lnTo>
                  <a:lnTo>
                    <a:pt x="305292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9426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292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639034" cy="8229600"/>
          </a:xfrm>
          <a:custGeom>
            <a:avLst/>
            <a:gdLst/>
            <a:ahLst/>
            <a:cxnLst/>
            <a:rect r="r" b="b" t="t" l="l"/>
            <a:pathLst>
              <a:path h="8229600" w="4639034">
                <a:moveTo>
                  <a:pt x="0" y="0"/>
                </a:moveTo>
                <a:lnTo>
                  <a:pt x="4639034" y="0"/>
                </a:lnTo>
                <a:lnTo>
                  <a:pt x="46390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132" t="0" r="-83132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7532667" y="6402112"/>
            <a:ext cx="7496085" cy="1782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176724" y="3599138"/>
            <a:ext cx="10573586" cy="278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8"/>
              </a:lnSpc>
            </a:pPr>
            <a:r>
              <a:rPr lang="en-US" sz="1634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14903" y="9519802"/>
            <a:ext cx="1934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942613"/>
                </a:solidFill>
                <a:latin typeface="HK Grotesk"/>
                <a:ea typeface="HK Grotesk"/>
                <a:cs typeface="HK Grotesk"/>
                <a:sym typeface="HK Grotesk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DAHILlHRH6M</dc:identifier>
  <dcterms:modified xsi:type="dcterms:W3CDTF">2011-08-01T06:04:30Z</dcterms:modified>
  <cp:revision>1</cp:revision>
  <dc:title>CS4082 Project Presentation</dc:title>
</cp:coreProperties>
</file>